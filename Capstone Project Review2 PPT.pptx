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69" r:id="rId4"/>
    <p:sldId id="274" r:id="rId5"/>
    <p:sldId id="275" r:id="rId6"/>
    <p:sldId id="277" r:id="rId7"/>
    <p:sldId id="273" r:id="rId8"/>
    <p:sldId id="276" r:id="rId9"/>
    <p:sldId id="268" r:id="rId10"/>
    <p:sldId id="278" r:id="rId11"/>
    <p:sldId id="270" r:id="rId12"/>
    <p:sldId id="265" r:id="rId13"/>
    <p:sldId id="266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602EDA78-2A6B-57C0-410A-ED2EDD17A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83F24904-A108-F7BD-E706-FF1EB6D46C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F7E316D1-56F3-886D-3FEC-558F275B7B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662119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602EDA78-2A6B-57C0-410A-ED2EDD17A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83F24904-A108-F7BD-E706-FF1EB6D46C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F7E316D1-56F3-886D-3FEC-558F275B7B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662119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sz="2400" dirty="0"/>
              <a:t>PSCS_452 - Freelancing Platform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1820679" y="2271465"/>
            <a:ext cx="2803712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COM_62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217692"/>
            <a:ext cx="4949804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lang="en-GB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16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Ruhin Kouser R</a:t>
            </a: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 – Senior Scale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3074994511"/>
              </p:ext>
            </p:extLst>
          </p:nvPr>
        </p:nvGraphicFramePr>
        <p:xfrm>
          <a:off x="947788" y="3063230"/>
          <a:ext cx="5239652" cy="73154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34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5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901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0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20221COM0002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Prithvi Krishnan M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3222535" y="30033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24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24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2400" b="1" i="0" u="none" strike="noStrike" cap="none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Review-2</a:t>
            </a:r>
            <a:endParaRPr sz="24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946334" y="4280424"/>
            <a:ext cx="10482211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B.Tech – Computer Engineering (Artificial Intelligence &amp; Machine Learning)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Pallavi R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Ms. Benitha Christinal J 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 , Dr. Geetha A </a:t>
            </a:r>
            <a:endParaRPr sz="1800" b="1" i="0" u="none" strike="noStrike" cap="none" dirty="0">
              <a:solidFill>
                <a:schemeClr val="bg2">
                  <a:lumMod val="60000"/>
                  <a:lumOff val="4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731520" y="45751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070610"/>
            <a:ext cx="10668000" cy="4974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495300" lvl="0" indent="-342900">
              <a:lnSpc>
                <a:spcPct val="200000"/>
              </a:lnSpc>
              <a:spcBef>
                <a:spcPts val="0"/>
              </a:spcBef>
              <a:buFont typeface="Verdana" panose="020B0604030504040204" pitchFamily="34" charset="0"/>
              <a:buChar char="–"/>
            </a:pPr>
            <a:r>
              <a:rPr lang="en-US" dirty="0"/>
              <a:t>Abstract</a:t>
            </a:r>
          </a:p>
          <a:p>
            <a:pPr marL="495300" lvl="0" indent="-342900">
              <a:lnSpc>
                <a:spcPct val="200000"/>
              </a:lnSpc>
              <a:spcBef>
                <a:spcPts val="0"/>
              </a:spcBef>
              <a:buFont typeface="Verdana" panose="020B0604030504040204" pitchFamily="34" charset="0"/>
              <a:buChar char="–"/>
            </a:pPr>
            <a:r>
              <a:rPr lang="en-US" dirty="0"/>
              <a:t>Literature Survey</a:t>
            </a:r>
          </a:p>
          <a:p>
            <a:pPr marL="495300" lvl="0" indent="-342900">
              <a:lnSpc>
                <a:spcPct val="200000"/>
              </a:lnSpc>
              <a:spcBef>
                <a:spcPts val="0"/>
              </a:spcBef>
              <a:buFont typeface="Verdana" panose="020B0604030504040204" pitchFamily="34" charset="0"/>
              <a:buChar char="–"/>
            </a:pPr>
            <a:r>
              <a:rPr lang="en-US" dirty="0"/>
              <a:t>Objectives</a:t>
            </a:r>
          </a:p>
          <a:p>
            <a:pPr marL="495300" lvl="0" indent="-342900">
              <a:lnSpc>
                <a:spcPct val="200000"/>
              </a:lnSpc>
              <a:spcBef>
                <a:spcPts val="0"/>
              </a:spcBef>
              <a:buFont typeface="Verdana" panose="020B0604030504040204" pitchFamily="34" charset="0"/>
              <a:buChar char="–"/>
            </a:pPr>
            <a:r>
              <a:rPr lang="en-US" dirty="0"/>
              <a:t>Existing System &amp; Drawbacks</a:t>
            </a:r>
          </a:p>
          <a:p>
            <a:pPr marL="495300" lvl="0" indent="-342900">
              <a:lnSpc>
                <a:spcPct val="200000"/>
              </a:lnSpc>
              <a:spcBef>
                <a:spcPts val="0"/>
              </a:spcBef>
              <a:buFont typeface="Verdana" panose="020B0604030504040204" pitchFamily="34" charset="0"/>
              <a:buChar char="–"/>
            </a:pPr>
            <a:r>
              <a:rPr lang="en-US" dirty="0"/>
              <a:t>Proposed Model &amp; Feasibility Study</a:t>
            </a:r>
          </a:p>
          <a:p>
            <a:pPr marL="495300" lvl="0" indent="-342900">
              <a:lnSpc>
                <a:spcPct val="200000"/>
              </a:lnSpc>
              <a:spcBef>
                <a:spcPts val="0"/>
              </a:spcBef>
              <a:buFont typeface="Verdana" panose="020B0604030504040204" pitchFamily="34" charset="0"/>
              <a:buChar char="–"/>
            </a:pPr>
            <a:r>
              <a:rPr lang="en-US" dirty="0"/>
              <a:t>Architecture Diagram</a:t>
            </a:r>
          </a:p>
          <a:p>
            <a:pPr marL="495300" lvl="0" indent="-342900">
              <a:lnSpc>
                <a:spcPct val="200000"/>
              </a:lnSpc>
              <a:spcBef>
                <a:spcPts val="0"/>
              </a:spcBef>
              <a:buFont typeface="Verdana" panose="020B0604030504040204" pitchFamily="34" charset="0"/>
              <a:buChar char="–"/>
            </a:pPr>
            <a:r>
              <a:rPr lang="en-US" dirty="0"/>
              <a:t>Modules</a:t>
            </a:r>
          </a:p>
          <a:p>
            <a:pPr marL="495300" lvl="0" indent="-342900">
              <a:lnSpc>
                <a:spcPct val="200000"/>
              </a:lnSpc>
              <a:spcBef>
                <a:spcPts val="0"/>
              </a:spcBef>
              <a:buFont typeface="Verdana" panose="020B0604030504040204" pitchFamily="34" charset="0"/>
              <a:buChar char="–"/>
            </a:pPr>
            <a:r>
              <a:rPr lang="en-US" dirty="0"/>
              <a:t>Hardware &amp; Software Details</a:t>
            </a:r>
          </a:p>
          <a:p>
            <a:pPr marL="495300" lvl="0" indent="-342900">
              <a:lnSpc>
                <a:spcPct val="200000"/>
              </a:lnSpc>
              <a:spcBef>
                <a:spcPts val="0"/>
              </a:spcBef>
              <a:buFont typeface="Verdana" panose="020B0604030504040204" pitchFamily="34" charset="0"/>
              <a:buChar char="–"/>
            </a:pPr>
            <a:r>
              <a:rPr lang="en-US" dirty="0"/>
              <a:t>Timeline of the Project</a:t>
            </a:r>
          </a:p>
          <a:p>
            <a:pPr marL="495300" lvl="0" indent="-342900">
              <a:lnSpc>
                <a:spcPct val="200000"/>
              </a:lnSpc>
              <a:spcBef>
                <a:spcPts val="0"/>
              </a:spcBef>
              <a:buFont typeface="Verdana" panose="020B0604030504040204" pitchFamily="34" charset="0"/>
              <a:buChar char="–"/>
            </a:pPr>
            <a:r>
              <a:rPr lang="en-US" dirty="0"/>
              <a:t>References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731520" y="416739"/>
            <a:ext cx="1074928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Abstract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031241"/>
            <a:ext cx="10668000" cy="5267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120000"/>
              </a:lnSpc>
              <a:buFont typeface="Verdana" panose="020B0604030504040204" pitchFamily="34" charset="0"/>
              <a:buChar char="–"/>
            </a:pPr>
            <a:r>
              <a:rPr lang="en-US" dirty="0"/>
              <a:t>The proposed system is an AI-powered freelancing platform that is made for Indian market. </a:t>
            </a:r>
          </a:p>
          <a:p>
            <a:pPr>
              <a:lnSpc>
                <a:spcPct val="120000"/>
              </a:lnSpc>
              <a:buFont typeface="Verdana" panose="020B0604030504040204" pitchFamily="34" charset="0"/>
              <a:buChar char="–"/>
            </a:pPr>
            <a:r>
              <a:rPr lang="en-US" dirty="0"/>
              <a:t>It solves big problems that are common on other platforms, like a lack of trust, late payments, high fees, and bad UPI support.</a:t>
            </a:r>
          </a:p>
          <a:p>
            <a:pPr>
              <a:lnSpc>
                <a:spcPct val="120000"/>
              </a:lnSpc>
              <a:buFont typeface="Verdana" panose="020B0604030504040204" pitchFamily="34" charset="0"/>
              <a:buChar char="–"/>
            </a:pPr>
            <a:r>
              <a:rPr lang="en-US" dirty="0"/>
              <a:t>The project combines AI-based job-talent matching with a fake escrow payment system that uses UPI logic to make sure that clients and freelancers can work together safely and openly.</a:t>
            </a:r>
          </a:p>
          <a:p>
            <a:pPr>
              <a:lnSpc>
                <a:spcPct val="120000"/>
              </a:lnSpc>
              <a:buFont typeface="Verdana" panose="020B0604030504040204" pitchFamily="34" charset="0"/>
              <a:buChar char="–"/>
            </a:pPr>
            <a:r>
              <a:rPr lang="en-US" dirty="0"/>
              <a:t>This phase of implementation is all about integrating modules, building the backend, and testing functional features.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4733F-011B-3121-4FF4-D61CFE779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437198"/>
            <a:ext cx="10668000" cy="487500"/>
          </a:xfrm>
        </p:spPr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7B0A1-B6D6-B3FF-95B3-8FDCAAC510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005978"/>
            <a:ext cx="11582400" cy="5587862"/>
          </a:xfrm>
        </p:spPr>
        <p:txBody>
          <a:bodyPr>
            <a:normAutofit lnSpcReduction="10000"/>
          </a:bodyPr>
          <a:lstStyle/>
          <a:p>
            <a:pPr>
              <a:buFont typeface="Verdana" panose="020B0604030504040204" pitchFamily="34" charset="0"/>
              <a:buChar char="–"/>
            </a:pPr>
            <a:r>
              <a:rPr lang="en-IN" sz="1600" dirty="0"/>
              <a:t>Arefin &amp; Hossain (2019): Used client feedback classification + association rule mining for job recommendations; lacks AI-driven semantic matching and local payment focus.</a:t>
            </a:r>
          </a:p>
          <a:p>
            <a:pPr>
              <a:buFont typeface="Verdana" panose="020B0604030504040204" pitchFamily="34" charset="0"/>
              <a:buChar char="–"/>
            </a:pPr>
            <a:r>
              <a:rPr lang="en-IN" sz="1600" dirty="0"/>
              <a:t>Rezaei &amp; Lin (2020): Applied deep-learning-based semantic job recommendation; doesn’t address escrow or regional payment integration.</a:t>
            </a:r>
          </a:p>
          <a:p>
            <a:pPr>
              <a:buFont typeface="Verdana" panose="020B0604030504040204" pitchFamily="34" charset="0"/>
              <a:buChar char="–"/>
            </a:pPr>
            <a:r>
              <a:rPr lang="en-IN" sz="1600" dirty="0"/>
              <a:t>Zhang et al. (2007): Modelled escrow frameworks to improve online trust; focused on auctions, not freelancing ecosystems.</a:t>
            </a:r>
          </a:p>
          <a:p>
            <a:pPr>
              <a:buFont typeface="Verdana" panose="020B0604030504040204" pitchFamily="34" charset="0"/>
              <a:buChar char="–"/>
            </a:pPr>
            <a:r>
              <a:rPr lang="en-IN" sz="1600" dirty="0"/>
              <a:t>AI-Powered Freelancing (2025): Proposed an AI framework for smarter gig allocation; lacks implementation for UPI or India-specific use.</a:t>
            </a:r>
          </a:p>
          <a:p>
            <a:pPr>
              <a:buFont typeface="Verdana" panose="020B0604030504040204" pitchFamily="34" charset="0"/>
              <a:buChar char="–"/>
            </a:pPr>
            <a:r>
              <a:rPr lang="en-IN" sz="1600" dirty="0"/>
              <a:t>Ertuğrul &amp; Çelik (2025): Conducted a systematic review of job recommender systems; highlights lack of localized and context-aware solutions.</a:t>
            </a:r>
          </a:p>
          <a:p>
            <a:pPr>
              <a:buFont typeface="Verdana" panose="020B0604030504040204" pitchFamily="34" charset="0"/>
              <a:buChar char="–"/>
            </a:pPr>
            <a:r>
              <a:rPr lang="en-IN" sz="1600" dirty="0"/>
              <a:t>Mashayekhi et al. (2022): Surveyed e-recruitment recommendation systems; limited to corporate hiring, not freelance platforms.</a:t>
            </a:r>
          </a:p>
          <a:p>
            <a:pPr>
              <a:buFont typeface="Verdana" panose="020B0604030504040204" pitchFamily="34" charset="0"/>
              <a:buChar char="–"/>
            </a:pPr>
            <a:r>
              <a:rPr lang="en-IN" sz="1600" dirty="0"/>
              <a:t>Antony et al. (2006): Studied escrow adoption in e-commerce; lacks integration with AI or modern digital payment models.</a:t>
            </a:r>
          </a:p>
          <a:p>
            <a:pPr>
              <a:buFont typeface="Verdana" panose="020B0604030504040204" pitchFamily="34" charset="0"/>
              <a:buChar char="–"/>
            </a:pPr>
            <a:r>
              <a:rPr lang="en-IN" sz="1600" dirty="0"/>
              <a:t>Reddy et al. (2024): Designed decentralized escrow protocol for P2P payments; not adapted to freelance project workflows.</a:t>
            </a:r>
          </a:p>
          <a:p>
            <a:pPr>
              <a:buFont typeface="Verdana" panose="020B0604030504040204" pitchFamily="34" charset="0"/>
              <a:buChar char="–"/>
            </a:pPr>
            <a:r>
              <a:rPr lang="en-IN" sz="1600" dirty="0"/>
              <a:t>Azri (2025): Developed context-aware ML job recommender; doesn’t include trust or payment mechanisms.</a:t>
            </a:r>
          </a:p>
          <a:p>
            <a:pPr>
              <a:buFont typeface="Verdana" panose="020B0604030504040204" pitchFamily="34" charset="0"/>
              <a:buChar char="–"/>
            </a:pPr>
            <a:r>
              <a:rPr lang="en-IN" sz="1600" dirty="0"/>
              <a:t>Pavlou (2004): Analysed institution-based trust in online markets; no AI or regional adaptation to Indian freelancers.</a:t>
            </a:r>
          </a:p>
        </p:txBody>
      </p:sp>
    </p:spTree>
    <p:extLst>
      <p:ext uri="{BB962C8B-B14F-4D97-AF65-F5344CB8AC3E}">
        <p14:creationId xmlns:p14="http://schemas.microsoft.com/office/powerpoint/2010/main" val="4195645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1C92F-1942-CCB8-DF82-2DD5764D6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360" y="426899"/>
            <a:ext cx="10668000" cy="487500"/>
          </a:xfrm>
        </p:spPr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6E1E52-53F1-F32B-5B8F-481576F448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Verdana" panose="020B0604030504040204" pitchFamily="34" charset="0"/>
              <a:buChar char="–"/>
            </a:pPr>
            <a:r>
              <a:rPr lang="en-US" dirty="0"/>
              <a:t>Set up a full-fledged freelancing marketplace with an escrow simulation.</a:t>
            </a:r>
          </a:p>
          <a:p>
            <a:pPr>
              <a:buFont typeface="Verdana" panose="020B0604030504040204" pitchFamily="34" charset="0"/>
              <a:buChar char="–"/>
            </a:pPr>
            <a:r>
              <a:rPr lang="en-US" dirty="0"/>
              <a:t>Use data from users to create a job-talent matching engine powered by AI.</a:t>
            </a:r>
          </a:p>
          <a:p>
            <a:pPr>
              <a:buFont typeface="Verdana" panose="020B0604030504040204" pitchFamily="34" charset="0"/>
              <a:buChar char="–"/>
            </a:pPr>
            <a:r>
              <a:rPr lang="en-US" dirty="0"/>
              <a:t>Allow safe UPI-based mock transactions between clients and freelancers.</a:t>
            </a:r>
          </a:p>
          <a:p>
            <a:pPr>
              <a:buFont typeface="Verdana" panose="020B0604030504040204" pitchFamily="34" charset="0"/>
              <a:buChar char="–"/>
            </a:pPr>
            <a:r>
              <a:rPr lang="en-US" dirty="0"/>
              <a:t>Make dashboards for clients and freelancers based on their roles.</a:t>
            </a:r>
          </a:p>
          <a:p>
            <a:pPr>
              <a:buFont typeface="Verdana" panose="020B0604030504040204" pitchFamily="34" charset="0"/>
              <a:buChar char="–"/>
            </a:pPr>
            <a:r>
              <a:rPr lang="en-US" dirty="0"/>
              <a:t>Use open-source tools to deploy on Render Cloud / MongoDB Atlas.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3523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9C2407D5-8762-AF5F-3C98-AC70B7D58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3D1BCCDA-1716-23BC-FAD0-D4B5F8A18D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345758"/>
            <a:ext cx="1090168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Existing Systems and Drawbacks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B95897CB-B6E6-4876-DD20-89DFE97E4A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365215"/>
            <a:ext cx="10668000" cy="4716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lvl="0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Verdana" panose="020B0604030504040204" pitchFamily="34" charset="0"/>
              <a:buChar char="–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UpWork offers global reach with minimum localization</a:t>
            </a:r>
          </a:p>
          <a:p>
            <a:pPr marL="495300" lvl="0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Verdana" panose="020B0604030504040204" pitchFamily="34" charset="0"/>
              <a:buChar char="–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Fiverr offers quick gigs but does not provide comprehensive project management.</a:t>
            </a:r>
          </a:p>
          <a:p>
            <a:pPr marL="495300" lvl="0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Verdana" panose="020B0604030504040204" pitchFamily="34" charset="0"/>
              <a:buChar char="–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Freelancer.com features the bidding methodology, hefty fees and limited payment methods for Indians </a:t>
            </a:r>
          </a:p>
        </p:txBody>
      </p:sp>
    </p:spTree>
    <p:extLst>
      <p:ext uri="{BB962C8B-B14F-4D97-AF65-F5344CB8AC3E}">
        <p14:creationId xmlns:p14="http://schemas.microsoft.com/office/powerpoint/2010/main" val="370481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579120" y="34575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/>
              <a:t>Proposed Model and Feasibility Study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716281" y="1189464"/>
            <a:ext cx="1090168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Font typeface="Verdana" panose="020B0604030504040204" pitchFamily="34" charset="0"/>
              <a:buChar char="–"/>
            </a:pPr>
            <a:r>
              <a:rPr lang="en-US" dirty="0"/>
              <a:t>Proposed Model:</a:t>
            </a:r>
          </a:p>
          <a:p>
            <a:pPr lvl="1">
              <a:buFont typeface="Verdana" panose="020B0604030504040204" pitchFamily="34" charset="0"/>
              <a:buChar char="–"/>
            </a:pPr>
            <a:r>
              <a:rPr lang="en-US" dirty="0"/>
              <a:t>Clients post projects → Freelancers bid → AI recommends best matches → Escrow holds payment → Delivery &amp; release.</a:t>
            </a:r>
          </a:p>
          <a:p>
            <a:pPr lvl="1">
              <a:buFont typeface="Verdana" panose="020B0604030504040204" pitchFamily="34" charset="0"/>
              <a:buChar char="–"/>
            </a:pPr>
            <a:r>
              <a:rPr lang="en-US" dirty="0"/>
              <a:t>The escrow is simulated for academic demonstration without real money.</a:t>
            </a:r>
          </a:p>
          <a:p>
            <a:pPr marL="558800" lvl="1" indent="0">
              <a:buNone/>
            </a:pPr>
            <a:endParaRPr lang="en-US" dirty="0"/>
          </a:p>
          <a:p>
            <a:pPr>
              <a:buFont typeface="Verdana" panose="020B0604030504040204" pitchFamily="34" charset="0"/>
              <a:buChar char="–"/>
            </a:pPr>
            <a:r>
              <a:rPr lang="en-US" dirty="0"/>
              <a:t>Feasibility Study:</a:t>
            </a:r>
          </a:p>
          <a:p>
            <a:pPr lvl="1">
              <a:buFont typeface="Verdana" panose="020B0604030504040204" pitchFamily="34" charset="0"/>
              <a:buChar char="–"/>
            </a:pPr>
            <a:r>
              <a:rPr lang="en-US" i="1" dirty="0"/>
              <a:t>Technical:</a:t>
            </a:r>
            <a:r>
              <a:rPr lang="en-US" dirty="0"/>
              <a:t> Uses MERN/Python stack with TensorFlow &amp; MongoDB Atlas.</a:t>
            </a:r>
          </a:p>
          <a:p>
            <a:pPr lvl="1">
              <a:buFont typeface="Verdana" panose="020B0604030504040204" pitchFamily="34" charset="0"/>
              <a:buChar char="–"/>
            </a:pPr>
            <a:r>
              <a:rPr lang="en-US" i="1" dirty="0"/>
              <a:t>Economic:</a:t>
            </a:r>
            <a:r>
              <a:rPr lang="en-US" dirty="0"/>
              <a:t> Completely open-source + free-tier cloud hosting.</a:t>
            </a:r>
          </a:p>
          <a:p>
            <a:pPr lvl="1">
              <a:buFont typeface="Verdana" panose="020B0604030504040204" pitchFamily="34" charset="0"/>
              <a:buChar char="–"/>
            </a:pPr>
            <a:r>
              <a:rPr lang="en-US" i="1" dirty="0"/>
              <a:t>Operational:</a:t>
            </a:r>
            <a:r>
              <a:rPr lang="en-US" dirty="0"/>
              <a:t> Designed and implemented by a single developer (individual project)</a:t>
            </a: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2C025-F3D6-327C-D325-C56E85F92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447219"/>
            <a:ext cx="10668000" cy="487500"/>
          </a:xfrm>
        </p:spPr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 descr="A diagram of a architecture diagram&#10;&#10;AI-generated content may be incorrect.">
            <a:extLst>
              <a:ext uri="{FF2B5EF4-FFF2-40B4-BE49-F238E27FC236}">
                <a16:creationId xmlns:a16="http://schemas.microsoft.com/office/drawing/2014/main" id="{21803B0C-C486-CB3C-A7A3-3CA4C51AB8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99" t="8296" r="5278" b="11259"/>
          <a:stretch>
            <a:fillRect/>
          </a:stretch>
        </p:blipFill>
        <p:spPr>
          <a:xfrm>
            <a:off x="1869440" y="1060556"/>
            <a:ext cx="8453120" cy="4736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121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558800" y="3762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Modules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558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495300" indent="-342900" algn="just">
              <a:lnSpc>
                <a:spcPct val="200000"/>
              </a:lnSpc>
              <a:spcBef>
                <a:spcPts val="0"/>
              </a:spcBef>
              <a:buSzPct val="100000"/>
              <a:buFont typeface="Cambria" panose="02040503050406030204" pitchFamily="18" charset="0"/>
              <a:buChar char="–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Authentication Module – User login / registration.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SzPct val="100000"/>
              <a:buFont typeface="Cambria" panose="02040503050406030204" pitchFamily="18" charset="0"/>
              <a:buChar char="–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Profile &amp; Portfolio – Manage skills, uploads, and visibility.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SzPct val="100000"/>
              <a:buFont typeface="Cambria" panose="02040503050406030204" pitchFamily="18" charset="0"/>
              <a:buChar char="–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Job Posting &amp; Bidding – Clients post; freelancers apply.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SzPct val="100000"/>
              <a:buFont typeface="Cambria" panose="02040503050406030204" pitchFamily="18" charset="0"/>
              <a:buChar char="–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AI Recommendation Engine – Suggests optimal matches.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SzPct val="100000"/>
              <a:buFont typeface="Cambria" panose="02040503050406030204" pitchFamily="18" charset="0"/>
              <a:buChar char="–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Escrow Simulation – Securely holds &amp; releases payments.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SzPct val="100000"/>
              <a:buFont typeface="Cambria" panose="02040503050406030204" pitchFamily="18" charset="0"/>
              <a:buChar char="–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File Sharing &amp; Chat Module – Streamlined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9C2407D5-8762-AF5F-3C98-AC70B7D58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3D1BCCDA-1716-23BC-FAD0-D4B5F8A18D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345758"/>
            <a:ext cx="1090168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Hardware and Software Requirements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B95897CB-B6E6-4876-DD20-89DFE97E4A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070575"/>
            <a:ext cx="10668000" cy="4716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lvl="0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Hardware Requirements:</a:t>
            </a:r>
          </a:p>
          <a:p>
            <a:pPr marL="952500" lvl="1" indent="-342900">
              <a:spcBef>
                <a:spcPts val="0"/>
              </a:spcBef>
              <a:buSzPct val="100000"/>
              <a:buFont typeface="Verdana" panose="020B0604030504040204" pitchFamily="34" charset="0"/>
              <a:buChar char="–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Mid-range system: Intel i5 / Ryzen 5 or higher</a:t>
            </a:r>
          </a:p>
          <a:p>
            <a:pPr marL="952500" lvl="1" indent="-342900">
              <a:spcBef>
                <a:spcPts val="0"/>
              </a:spcBef>
              <a:buSzPct val="100000"/>
              <a:buFont typeface="Verdana" panose="020B0604030504040204" pitchFamily="34" charset="0"/>
              <a:buChar char="–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8–16 GB RAM, SSD storage</a:t>
            </a:r>
          </a:p>
          <a:p>
            <a:pPr marL="952500" lvl="1" indent="-342900">
              <a:spcBef>
                <a:spcPts val="0"/>
              </a:spcBef>
              <a:buSzPct val="100000"/>
              <a:buFont typeface="Verdana" panose="020B0604030504040204" pitchFamily="34" charset="0"/>
              <a:buChar char="–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Integrated/dedicated GPU, Full HD display</a:t>
            </a:r>
          </a:p>
          <a:p>
            <a:pPr marL="952500" lvl="1" indent="-342900">
              <a:spcBef>
                <a:spcPts val="0"/>
              </a:spcBef>
              <a:buSzPct val="100000"/>
              <a:buFont typeface="Verdana" panose="020B0604030504040204" pitchFamily="34" charset="0"/>
              <a:buChar char="–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Standard peripherals and stable internet</a:t>
            </a:r>
          </a:p>
          <a:p>
            <a:pPr marL="952500" lvl="1" indent="-342900">
              <a:spcBef>
                <a:spcPts val="0"/>
              </a:spcBef>
              <a:buSzPct val="100000"/>
              <a:buFont typeface="Verdana" panose="020B0604030504040204" pitchFamily="34" charset="0"/>
              <a:buChar char="–"/>
            </a:pPr>
            <a:endParaRPr lang="en-US" sz="105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95300" indent="-342900">
              <a:lnSpc>
                <a:spcPct val="150000"/>
              </a:lnSpc>
              <a:spcBef>
                <a:spcPts val="0"/>
              </a:spcBef>
              <a:buSzPct val="100000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Software Requirements:</a:t>
            </a:r>
          </a:p>
          <a:p>
            <a:pPr marL="952500" lvl="1" indent="-342900">
              <a:spcBef>
                <a:spcPts val="0"/>
              </a:spcBef>
              <a:buSzPct val="100000"/>
              <a:buFont typeface="Verdana" panose="020B0604030504040204" pitchFamily="34" charset="0"/>
              <a:buChar char="–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OS: Windows / Linux / macOS</a:t>
            </a:r>
          </a:p>
          <a:p>
            <a:pPr marL="952500" lvl="1" indent="-342900">
              <a:spcBef>
                <a:spcPts val="0"/>
              </a:spcBef>
              <a:buSzPct val="100000"/>
              <a:buFont typeface="Verdana" panose="020B0604030504040204" pitchFamily="34" charset="0"/>
              <a:buChar char="–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Development: Python / Java, VS Code, GitHub</a:t>
            </a:r>
          </a:p>
          <a:p>
            <a:pPr marL="952500" lvl="1" indent="-342900">
              <a:spcBef>
                <a:spcPts val="0"/>
              </a:spcBef>
              <a:buSzPct val="100000"/>
              <a:buFont typeface="Verdana" panose="020B0604030504040204" pitchFamily="34" charset="0"/>
              <a:buChar char="–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Database: MySQL / PostgreSQL / MongoDB</a:t>
            </a:r>
          </a:p>
          <a:p>
            <a:pPr marL="952500" lvl="1" indent="-342900">
              <a:spcBef>
                <a:spcPts val="0"/>
              </a:spcBef>
              <a:buSzPct val="100000"/>
              <a:buFont typeface="Verdana" panose="020B0604030504040204" pitchFamily="34" charset="0"/>
              <a:buChar char="–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Frameworks: React, Node.js, TensorFlow /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</a:rPr>
              <a:t>PyTorch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952500" lvl="1" indent="-342900">
              <a:spcBef>
                <a:spcPts val="0"/>
              </a:spcBef>
              <a:buSzPct val="100000"/>
              <a:buFont typeface="Verdana" panose="020B0604030504040204" pitchFamily="34" charset="0"/>
              <a:buChar char="–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Tools: Office suite, browser, version control</a:t>
            </a:r>
          </a:p>
        </p:txBody>
      </p:sp>
    </p:spTree>
    <p:extLst>
      <p:ext uri="{BB962C8B-B14F-4D97-AF65-F5344CB8AC3E}">
        <p14:creationId xmlns:p14="http://schemas.microsoft.com/office/powerpoint/2010/main" val="2827391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731520" y="452142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Project Timeline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 descr="A graph with blue squares&#10;&#10;AI-generated content may be incorrect.">
            <a:extLst>
              <a:ext uri="{FF2B5EF4-FFF2-40B4-BE49-F238E27FC236}">
                <a16:creationId xmlns:a16="http://schemas.microsoft.com/office/drawing/2014/main" id="{84F523FF-A5A2-D57B-D22B-C7654D1B46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900"/>
                    </a14:imgEffect>
                    <a14:imgEffect>
                      <a14:saturation sat="200000"/>
                    </a14:imgEffect>
                  </a14:imgLayer>
                </a14:imgProps>
              </a:ext>
            </a:extLst>
          </a:blip>
          <a:srcRect l="866" t="5088" r="446" b="1691"/>
          <a:stretch>
            <a:fillRect/>
          </a:stretch>
        </p:blipFill>
        <p:spPr>
          <a:xfrm>
            <a:off x="665480" y="1021080"/>
            <a:ext cx="1073404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721360" y="45751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27759"/>
            <a:ext cx="10668000" cy="474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76200" indent="0">
              <a:buNone/>
            </a:pPr>
            <a:r>
              <a:rPr lang="en-IN" sz="2200" dirty="0"/>
              <a:t>[1] M. S. Arefin and M. S. Hossain, “Development of an intelligent job recommender system for freelancers using client’s feedback classification and association rule mining techniques,” in </a:t>
            </a:r>
            <a:r>
              <a:rPr lang="en-IN" sz="2200" i="1" dirty="0"/>
              <a:t>Proc. [Conference/Journal Name]</a:t>
            </a:r>
            <a:r>
              <a:rPr lang="en-IN" sz="2200" dirty="0"/>
              <a:t>, Jun. 2019.</a:t>
            </a:r>
          </a:p>
          <a:p>
            <a:pPr marL="76200" indent="0">
              <a:buNone/>
            </a:pPr>
            <a:endParaRPr lang="en-IN" sz="2200" dirty="0"/>
          </a:p>
          <a:p>
            <a:pPr marL="76200" indent="0">
              <a:buNone/>
            </a:pPr>
            <a:r>
              <a:rPr lang="en-IN" sz="2200" dirty="0"/>
              <a:t>[2] A. Rezaei and Y. Lin, “A semantic job recommendation system based on deep learning,” </a:t>
            </a:r>
            <a:r>
              <a:rPr lang="en-IN" sz="2200" i="1" dirty="0"/>
              <a:t>IEEE Trans. Emerg. Topics </a:t>
            </a:r>
            <a:r>
              <a:rPr lang="en-IN" sz="2200" i="1" dirty="0" err="1"/>
              <a:t>Comput</a:t>
            </a:r>
            <a:r>
              <a:rPr lang="en-IN" sz="2200" i="1" dirty="0"/>
              <a:t>.</a:t>
            </a:r>
            <a:r>
              <a:rPr lang="en-IN" sz="2200" dirty="0"/>
              <a:t>, vol. 8, no. 2, pp. 263–274, Apr.–Jun. 2020.</a:t>
            </a:r>
          </a:p>
          <a:p>
            <a:pPr marL="76200" indent="0">
              <a:buNone/>
            </a:pPr>
            <a:endParaRPr lang="en-IN" sz="2200" dirty="0"/>
          </a:p>
          <a:p>
            <a:pPr marL="76200" indent="0">
              <a:buNone/>
            </a:pPr>
            <a:r>
              <a:rPr lang="en-IN" sz="2200" dirty="0"/>
              <a:t>[3] </a:t>
            </a:r>
            <a:r>
              <a:rPr lang="en-IN" sz="2200" i="1" dirty="0"/>
              <a:t>AI-Powered Freelancing: A Design Framework for Smarter Job Allocation</a:t>
            </a:r>
            <a:r>
              <a:rPr lang="en-IN" sz="2200" dirty="0"/>
              <a:t>, </a:t>
            </a:r>
            <a:r>
              <a:rPr lang="en-IN" sz="2200" i="1" dirty="0"/>
              <a:t>OAIJSE</a:t>
            </a:r>
            <a:r>
              <a:rPr lang="en-IN" sz="2200" dirty="0"/>
              <a:t>, vol. 8, no. 3, 2025.</a:t>
            </a:r>
          </a:p>
          <a:p>
            <a:pPr marL="76200" indent="0">
              <a:buNone/>
            </a:pPr>
            <a:endParaRPr lang="en-IN" sz="2200" dirty="0"/>
          </a:p>
          <a:p>
            <a:pPr marL="76200" indent="0">
              <a:buNone/>
            </a:pPr>
            <a:r>
              <a:rPr lang="en-IN" sz="2200" dirty="0"/>
              <a:t>[4] H. Zhang, Z. Lin, and X. Hu, “The effectiveness of the escrow model: An experimental framework for dynamic online environments,” </a:t>
            </a:r>
            <a:r>
              <a:rPr lang="en-IN" sz="2200" i="1" dirty="0"/>
              <a:t>J. Org. </a:t>
            </a:r>
            <a:r>
              <a:rPr lang="en-IN" sz="2200" i="1" dirty="0" err="1"/>
              <a:t>Comput</a:t>
            </a:r>
            <a:r>
              <a:rPr lang="en-IN" sz="2200" i="1" dirty="0"/>
              <a:t>. Electron. Commerce</a:t>
            </a:r>
            <a:r>
              <a:rPr lang="en-IN" sz="2200" dirty="0"/>
              <a:t>, vol. 17, no. 2, pp. 1–25, 2007.</a:t>
            </a:r>
          </a:p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1043</TotalTime>
  <Words>941</Words>
  <Application>Microsoft Office PowerPoint</Application>
  <PresentationFormat>Widescreen</PresentationFormat>
  <Paragraphs>98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Cambria</vt:lpstr>
      <vt:lpstr>Verdana</vt:lpstr>
      <vt:lpstr>Bioinformatics</vt:lpstr>
      <vt:lpstr>PSCS_452 - Freelancing Platform</vt:lpstr>
      <vt:lpstr>Content</vt:lpstr>
      <vt:lpstr>Abstract</vt:lpstr>
      <vt:lpstr>Literature Survey</vt:lpstr>
      <vt:lpstr>Objectives</vt:lpstr>
      <vt:lpstr>Existing Systems and Drawbacks</vt:lpstr>
      <vt:lpstr>Proposed Model and Feasibility Study</vt:lpstr>
      <vt:lpstr>Architecture Diagram</vt:lpstr>
      <vt:lpstr>Modules</vt:lpstr>
      <vt:lpstr>Hardware and Software Requirements</vt:lpstr>
      <vt:lpstr>Project Timeline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Prithvi Krishnan M</cp:lastModifiedBy>
  <cp:revision>48</cp:revision>
  <cp:lastPrinted>2025-08-20T09:03:29Z</cp:lastPrinted>
  <dcterms:modified xsi:type="dcterms:W3CDTF">2025-10-19T13:02:39Z</dcterms:modified>
</cp:coreProperties>
</file>