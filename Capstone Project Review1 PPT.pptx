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9" r:id="rId4"/>
    <p:sldId id="274" r:id="rId5"/>
    <p:sldId id="275" r:id="rId6"/>
    <p:sldId id="277" r:id="rId7"/>
    <p:sldId id="273" r:id="rId8"/>
    <p:sldId id="276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02EDA78-2A6B-57C0-410A-ED2EDD17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3F24904-A108-F7BD-E706-FF1EB6D46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7E316D1-56F3-886D-3FEC-558F275B7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6211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thvi-2k4/ai-freelance-escrow-indi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PSCS_452 - Freelancing Platform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820679" y="2271465"/>
            <a:ext cx="2803712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COM_62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217692"/>
            <a:ext cx="4949804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Ruhin Kouser R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 – Senior Scale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074994511"/>
              </p:ext>
            </p:extLst>
          </p:nvPr>
        </p:nvGraphicFramePr>
        <p:xfrm>
          <a:off x="947788" y="3063230"/>
          <a:ext cx="5239652" cy="73154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34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0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20221COM0002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Prithvi Krishnan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3222535" y="30033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24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946334" y="4280424"/>
            <a:ext cx="1048221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 – Computer Engineering (Artificial Intelligence &amp; Machine Learning)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Ms. Benitha Christinal J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31520" y="45751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070610"/>
            <a:ext cx="10668000" cy="4161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Problem Statement</a:t>
            </a:r>
          </a:p>
          <a:p>
            <a:pPr marL="495300" indent="-342900" algn="just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Objectives</a:t>
            </a:r>
          </a:p>
          <a:p>
            <a:pPr marL="495300" indent="-342900" algn="just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Analysis of Problem Statement</a:t>
            </a:r>
          </a:p>
          <a:p>
            <a:pPr marL="495300" lvl="0" indent="-342900" algn="just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Innovation or Novel Contributions</a:t>
            </a:r>
          </a:p>
          <a:p>
            <a:pPr marL="495300" indent="-342900" algn="just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GitHub Link</a:t>
            </a:r>
          </a:p>
          <a:p>
            <a:pPr marL="495300" lvl="0" indent="-3429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Project Timeline</a:t>
            </a:r>
          </a:p>
          <a:p>
            <a:pPr marL="495300" lvl="0" indent="-3429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8800" dirty="0"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31520" y="416739"/>
            <a:ext cx="107492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031241"/>
            <a:ext cx="10668000" cy="52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Organization: Freelancing &amp; Gig Economy Platform for Indian Market</a:t>
            </a:r>
          </a:p>
          <a:p>
            <a:pPr>
              <a:lnSpc>
                <a:spcPct val="120000"/>
              </a:lnSpc>
            </a:pPr>
            <a:r>
              <a:rPr lang="en-US" dirty="0"/>
              <a:t>Category: Software</a:t>
            </a:r>
          </a:p>
          <a:p>
            <a:pPr>
              <a:lnSpc>
                <a:spcPct val="110000"/>
              </a:lnSpc>
            </a:pPr>
            <a:r>
              <a:rPr lang="en-US" dirty="0"/>
              <a:t>Problem Description: Freelancers and clients in India face persistent challenges in current online marketplaces: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Trust Deficit.</a:t>
            </a:r>
          </a:p>
          <a:p>
            <a:pPr lvl="1"/>
            <a:r>
              <a:rPr lang="en-US" dirty="0"/>
              <a:t>Payment Risks.</a:t>
            </a:r>
          </a:p>
          <a:p>
            <a:pPr lvl="1"/>
            <a:r>
              <a:rPr lang="en-US" dirty="0"/>
              <a:t>High Commission Rates.</a:t>
            </a:r>
          </a:p>
          <a:p>
            <a:pPr lvl="1"/>
            <a:r>
              <a:rPr lang="en-US" dirty="0"/>
              <a:t>Limited Local Payment Options.</a:t>
            </a:r>
          </a:p>
          <a:p>
            <a:pPr lvl="1"/>
            <a:r>
              <a:rPr lang="en-US" dirty="0"/>
              <a:t>Manual &amp; Inefficient Talent Search.</a:t>
            </a:r>
          </a:p>
          <a:p>
            <a:pPr lvl="1"/>
            <a:r>
              <a:rPr lang="en-US" dirty="0"/>
              <a:t>Lack of AI Assistance.</a:t>
            </a:r>
          </a:p>
          <a:p>
            <a:pPr marL="558800" lvl="1" indent="0">
              <a:buNone/>
            </a:pPr>
            <a:endParaRPr lang="en-US" sz="900" dirty="0"/>
          </a:p>
          <a:p>
            <a:pPr marL="558800" lvl="1" indent="0">
              <a:buNone/>
            </a:pPr>
            <a:r>
              <a:rPr lang="en-US" dirty="0"/>
              <a:t>These challenges hinder growth and trust in the Indian freelancing ecosystem, creating a need for a secure, localized, and AI-driven solution.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733F-011B-3121-4FF4-D61CFE77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37198"/>
            <a:ext cx="10668000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7B0A1-B6D6-B3FF-95B3-8FDCAAC51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305561"/>
            <a:ext cx="10668000" cy="4953000"/>
          </a:xfrm>
        </p:spPr>
        <p:txBody>
          <a:bodyPr/>
          <a:lstStyle/>
          <a:p>
            <a:r>
              <a:rPr lang="en-US" dirty="0"/>
              <a:t>Create a secure AI-powered freelancing marketplace for the Indian market</a:t>
            </a:r>
          </a:p>
          <a:p>
            <a:r>
              <a:rPr lang="en-US" dirty="0"/>
              <a:t>Connect freelancers and employers for gigs, projects, and short-term jobs</a:t>
            </a:r>
          </a:p>
          <a:p>
            <a:r>
              <a:rPr lang="en-US" dirty="0"/>
              <a:t>Offer profile &amp; portfolio management with ratings/reviews</a:t>
            </a:r>
          </a:p>
          <a:p>
            <a:r>
              <a:rPr lang="en-US" dirty="0"/>
              <a:t>Enable AI-driven job &amp; talent matching</a:t>
            </a:r>
          </a:p>
          <a:p>
            <a:r>
              <a:rPr lang="en-US" dirty="0"/>
              <a:t>Integrate escrow-based payments and UPI/bank transfers</a:t>
            </a:r>
          </a:p>
          <a:p>
            <a:r>
              <a:rPr lang="en-US" dirty="0"/>
              <a:t>Provide built-in project management &amp; communication 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64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C92F-1942-CCB8-DF82-2DD5764D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426899"/>
            <a:ext cx="10668000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E1E52-53F1-F32B-5B8F-481576F44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Background</a:t>
            </a:r>
          </a:p>
          <a:p>
            <a:pPr lvl="1"/>
            <a:r>
              <a:rPr lang="en-IN" dirty="0"/>
              <a:t>Freelancing in India is growing rapidly with remote work trends.</a:t>
            </a:r>
          </a:p>
          <a:p>
            <a:pPr lvl="1"/>
            <a:r>
              <a:rPr lang="en-IN" dirty="0"/>
              <a:t>Current platforms lack regional focus, local payment options, and language support.</a:t>
            </a:r>
          </a:p>
          <a:p>
            <a:pPr lvl="1"/>
            <a:r>
              <a:rPr lang="en-IN" dirty="0"/>
              <a:t>Increasing demand for flexible, skill-based work opportunities.</a:t>
            </a:r>
          </a:p>
          <a:p>
            <a:pPr lvl="1"/>
            <a:r>
              <a:rPr lang="en-IN" dirty="0"/>
              <a:t>Businesses seek cost-effective and on-demand talent.</a:t>
            </a:r>
          </a:p>
          <a:p>
            <a:pPr lvl="1"/>
            <a:r>
              <a:rPr lang="en-IN" dirty="0"/>
              <a:t>Many freelancers face challenges in getting visibility and trust.</a:t>
            </a:r>
          </a:p>
          <a:p>
            <a:r>
              <a:rPr lang="en-IN" dirty="0"/>
              <a:t>Related Work</a:t>
            </a:r>
          </a:p>
          <a:p>
            <a:pPr lvl="1"/>
            <a:r>
              <a:rPr lang="en-IN" dirty="0"/>
              <a:t>UpWork - Global reach, minimal localization.</a:t>
            </a:r>
          </a:p>
          <a:p>
            <a:pPr lvl="1"/>
            <a:r>
              <a:rPr lang="en-IN" dirty="0"/>
              <a:t>Fiverr – Quick gigs, lacks full project management.</a:t>
            </a:r>
          </a:p>
          <a:p>
            <a:pPr lvl="1"/>
            <a:r>
              <a:rPr lang="en-IN" dirty="0"/>
              <a:t>Freelancer.com – Bidding model, high fees, limited Indian payment methods.</a:t>
            </a:r>
          </a:p>
        </p:txBody>
      </p:sp>
    </p:spTree>
    <p:extLst>
      <p:ext uri="{BB962C8B-B14F-4D97-AF65-F5344CB8AC3E}">
        <p14:creationId xmlns:p14="http://schemas.microsoft.com/office/powerpoint/2010/main" val="56352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C2407D5-8762-AF5F-3C98-AC70B7D5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D1BCCDA-1716-23BC-FAD0-D4B5F8A18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345758"/>
            <a:ext cx="109016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95897CB-B6E6-4876-DD20-89DFE97E4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070575"/>
            <a:ext cx="10668000" cy="471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Hardware Requirements: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Mid-range system: Intel i5 / Ryzen 5 or higher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8–16 GB RAM, SSD storage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Integrated/dedicated GPU, Full HD display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Standard peripherals and stable internet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endParaRPr lang="en-US" sz="10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Software Requirements: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OS: Windows / Linux / macOS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Development: Python / Java, VS Code, GitHub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Database: MySQL / PostgreSQL / MongoDB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Frameworks: React, Node.js, TensorFlow /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PyTorch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Tools: Office suite, browser,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37048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7912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16281" y="1189464"/>
            <a:ext cx="1090168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F9922F-4C73-CC5D-F15C-29AD76273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56347"/>
              </p:ext>
            </p:extLst>
          </p:nvPr>
        </p:nvGraphicFramePr>
        <p:xfrm>
          <a:off x="919479" y="2168693"/>
          <a:ext cx="10556240" cy="3291840"/>
        </p:xfrm>
        <a:graphic>
          <a:graphicData uri="http://schemas.openxmlformats.org/drawingml/2006/table">
            <a:tbl>
              <a:tblPr/>
              <a:tblGrid>
                <a:gridCol w="2241944">
                  <a:extLst>
                    <a:ext uri="{9D8B030D-6E8A-4147-A177-3AD203B41FA5}">
                      <a16:colId xmlns:a16="http://schemas.microsoft.com/office/drawing/2014/main" val="2281273214"/>
                    </a:ext>
                  </a:extLst>
                </a:gridCol>
                <a:gridCol w="3780139">
                  <a:extLst>
                    <a:ext uri="{9D8B030D-6E8A-4147-A177-3AD203B41FA5}">
                      <a16:colId xmlns:a16="http://schemas.microsoft.com/office/drawing/2014/main" val="3424743615"/>
                    </a:ext>
                  </a:extLst>
                </a:gridCol>
                <a:gridCol w="4534157">
                  <a:extLst>
                    <a:ext uri="{9D8B030D-6E8A-4147-A177-3AD203B41FA5}">
                      <a16:colId xmlns:a16="http://schemas.microsoft.com/office/drawing/2014/main" val="1504415114"/>
                    </a:ext>
                  </a:extLst>
                </a:gridCol>
              </a:tblGrid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533046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HTML, CSS, JavaScript, React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UI for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150937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Node.js + Express.js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Server-side logic, API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463479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MongoDB (Atlas) + Mongoose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Store users, jobs, proposals, reviews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189037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JWT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Secure login &amp; route protection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017918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File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Multer (Node.js library)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File uploads for portfolios and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789214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Render </a:t>
                      </a: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(free tier)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Host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432080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Version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Code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86110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AI 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OpenAI – GPT5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AI-driven Assistance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413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C025-F3D6-327C-D325-C56E85F9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47219"/>
            <a:ext cx="10668000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C80CC-8F79-2869-28F5-4E89C15CB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366341"/>
            <a:ext cx="10668000" cy="504444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 dirty="0"/>
              <a:t>Simulated Payment Gateway – Mock secure transactions without real money.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Portfolio &amp; File Sharing – Upload work samples and deliverables.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Role-Based Dashboards – Separate views for freelancers and clients.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End-to-End Lifecycle – From job posting to delivery in one platform.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Cloud &amp; Free Stack – Deployed on free-tier cloud services with open-source tools.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43112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58800" y="3762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/>
              <a:t>Link to the project repository is provided here for version tracking and future development.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r>
              <a:rPr lang="en-US" sz="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Link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>
                <a:hlinkClick r:id="rId3"/>
              </a:rPr>
              <a:t>Prithvi-2k4/ai-freelance-escrow-</a:t>
            </a:r>
            <a:r>
              <a:rPr lang="en-US" dirty="0" err="1">
                <a:hlinkClick r:id="rId3"/>
              </a:rPr>
              <a:t>india</a:t>
            </a:r>
            <a:r>
              <a:rPr lang="en-US" dirty="0">
                <a:hlinkClick r:id="rId3"/>
              </a:rPr>
              <a:t>: AI-powered freelancing platform tailored for the Indian market with integrated escrow payments to ensure secure transactions between clients and freelancers.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31520" y="45214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Timeline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 descr="A graph with blue squares&#10;&#10;AI-generated content may be incorrect.">
            <a:extLst>
              <a:ext uri="{FF2B5EF4-FFF2-40B4-BE49-F238E27FC236}">
                <a16:creationId xmlns:a16="http://schemas.microsoft.com/office/drawing/2014/main" id="{84F523FF-A5A2-D57B-D22B-C7654D1B4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866" t="5088" r="446" b="1691"/>
          <a:stretch>
            <a:fillRect/>
          </a:stretch>
        </p:blipFill>
        <p:spPr>
          <a:xfrm>
            <a:off x="665480" y="1021080"/>
            <a:ext cx="107340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721360" y="45751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27759"/>
            <a:ext cx="10668000" cy="474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IN" sz="2200" dirty="0"/>
              <a:t>[1] M. S. Arefin and M. S. Hossain, “Development of an intelligent job recommender system for freelancers using client’s feedback classification and association rule mining techniques,” in </a:t>
            </a:r>
            <a:r>
              <a:rPr lang="en-IN" sz="2200" i="1" dirty="0"/>
              <a:t>Proc. [Conference/Journal Name]</a:t>
            </a:r>
            <a:r>
              <a:rPr lang="en-IN" sz="2200" dirty="0"/>
              <a:t>, Jun. 2019.</a:t>
            </a:r>
          </a:p>
          <a:p>
            <a:pPr marL="76200" indent="0">
              <a:buNone/>
            </a:pPr>
            <a:endParaRPr lang="en-IN" sz="2200" dirty="0"/>
          </a:p>
          <a:p>
            <a:pPr marL="76200" indent="0">
              <a:buNone/>
            </a:pPr>
            <a:r>
              <a:rPr lang="en-IN" sz="2200" dirty="0"/>
              <a:t>[2] A. Rezaei and Y. Lin, “A semantic job recommendation system based on deep learning,” </a:t>
            </a:r>
            <a:r>
              <a:rPr lang="en-IN" sz="2200" i="1" dirty="0"/>
              <a:t>IEEE Trans. Emerg. Topics </a:t>
            </a:r>
            <a:r>
              <a:rPr lang="en-IN" sz="2200" i="1" dirty="0" err="1"/>
              <a:t>Comput</a:t>
            </a:r>
            <a:r>
              <a:rPr lang="en-IN" sz="2200" i="1" dirty="0"/>
              <a:t>.</a:t>
            </a:r>
            <a:r>
              <a:rPr lang="en-IN" sz="2200" dirty="0"/>
              <a:t>, vol. 8, no. 2, pp. 263–274, Apr.–Jun. 2020.</a:t>
            </a:r>
          </a:p>
          <a:p>
            <a:pPr marL="76200" indent="0">
              <a:buNone/>
            </a:pPr>
            <a:endParaRPr lang="en-IN" sz="2200" dirty="0"/>
          </a:p>
          <a:p>
            <a:pPr marL="76200" indent="0">
              <a:buNone/>
            </a:pPr>
            <a:r>
              <a:rPr lang="en-IN" sz="2200" dirty="0"/>
              <a:t>[3] </a:t>
            </a:r>
            <a:r>
              <a:rPr lang="en-IN" sz="2200" i="1" dirty="0"/>
              <a:t>AI-Powered Freelancing: A Design Framework for Smarter Job Allocation</a:t>
            </a:r>
            <a:r>
              <a:rPr lang="en-IN" sz="2200" dirty="0"/>
              <a:t>, </a:t>
            </a:r>
            <a:r>
              <a:rPr lang="en-IN" sz="2200" i="1" dirty="0"/>
              <a:t>OAIJSE</a:t>
            </a:r>
            <a:r>
              <a:rPr lang="en-IN" sz="2200" dirty="0"/>
              <a:t>, vol. 8, no. 3, 2025.</a:t>
            </a:r>
          </a:p>
          <a:p>
            <a:pPr marL="76200" indent="0">
              <a:buNone/>
            </a:pPr>
            <a:endParaRPr lang="en-IN" sz="2200" dirty="0"/>
          </a:p>
          <a:p>
            <a:pPr marL="76200" indent="0">
              <a:buNone/>
            </a:pPr>
            <a:r>
              <a:rPr lang="en-IN" sz="2200" dirty="0"/>
              <a:t>[4] H. Zhang, Z. Lin, and X. Hu, “The effectiveness of the escrow model: An experimental framework for dynamic online environments,” </a:t>
            </a:r>
            <a:r>
              <a:rPr lang="en-IN" sz="2200" i="1" dirty="0"/>
              <a:t>J. Org. </a:t>
            </a:r>
            <a:r>
              <a:rPr lang="en-IN" sz="2200" i="1" dirty="0" err="1"/>
              <a:t>Comput</a:t>
            </a:r>
            <a:r>
              <a:rPr lang="en-IN" sz="2200" i="1" dirty="0"/>
              <a:t>. Electron. Commerce</a:t>
            </a:r>
            <a:r>
              <a:rPr lang="en-IN" sz="2200" dirty="0"/>
              <a:t>, vol. 17, no. 2, pp. 1–25, 2007.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816</Words>
  <Application>Microsoft Office PowerPoint</Application>
  <PresentationFormat>Widescreen</PresentationFormat>
  <Paragraphs>131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PSCS_452 - Freelancing Platform</vt:lpstr>
      <vt:lpstr>Content</vt:lpstr>
      <vt:lpstr>Problem Statement </vt:lpstr>
      <vt:lpstr>Objectives</vt:lpstr>
      <vt:lpstr>Background and Related work</vt:lpstr>
      <vt:lpstr>Analysis of Problem Statement </vt:lpstr>
      <vt:lpstr>Analysis of Problem Statement</vt:lpstr>
      <vt:lpstr>Innovation or Novel Contribution</vt:lpstr>
      <vt:lpstr>Github Link</vt:lpstr>
      <vt:lpstr>Project Timeline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Prithvi Krishnan M</cp:lastModifiedBy>
  <cp:revision>46</cp:revision>
  <cp:lastPrinted>2025-08-20T09:03:29Z</cp:lastPrinted>
  <dcterms:modified xsi:type="dcterms:W3CDTF">2025-08-20T14:17:49Z</dcterms:modified>
</cp:coreProperties>
</file>